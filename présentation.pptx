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5A0FD4-A8BE-4C1D-9142-A094590AE1D3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DAC0A3-5226-4E69-B01B-BE93C55AF25E}">
      <dgm:prSet/>
      <dgm:spPr/>
      <dgm:t>
        <a:bodyPr/>
        <a:lstStyle/>
        <a:p>
          <a:r>
            <a:rPr lang="en-US"/>
            <a:t>Caméra urbaine en direct (Place de la Comédie, Montpellier)</a:t>
          </a:r>
        </a:p>
      </dgm:t>
    </dgm:pt>
    <dgm:pt modelId="{FE2768DB-65A5-4BD5-893C-227B9999908A}" type="parTrans" cxnId="{E2E21AA3-652F-470E-B427-5E566798AEC4}">
      <dgm:prSet/>
      <dgm:spPr/>
      <dgm:t>
        <a:bodyPr/>
        <a:lstStyle/>
        <a:p>
          <a:endParaRPr lang="en-US"/>
        </a:p>
      </dgm:t>
    </dgm:pt>
    <dgm:pt modelId="{A544209E-1C2C-4260-AC6B-A1314C0EEF84}" type="sibTrans" cxnId="{E2E21AA3-652F-470E-B427-5E566798AEC4}">
      <dgm:prSet/>
      <dgm:spPr/>
      <dgm:t>
        <a:bodyPr/>
        <a:lstStyle/>
        <a:p>
          <a:endParaRPr lang="en-US"/>
        </a:p>
      </dgm:t>
    </dgm:pt>
    <dgm:pt modelId="{76E8BA0B-4AC5-4DCD-AAE2-86A90F47852D}">
      <dgm:prSet/>
      <dgm:spPr/>
      <dgm:t>
        <a:bodyPr/>
        <a:lstStyle/>
        <a:p>
          <a:r>
            <a:rPr lang="en-US"/>
            <a:t>Nombre de personnes détectées</a:t>
          </a:r>
        </a:p>
      </dgm:t>
    </dgm:pt>
    <dgm:pt modelId="{0E9B9EEA-F26C-42B4-9B29-8BB0391A57B7}" type="parTrans" cxnId="{6D016F1D-061E-47B6-9211-EAAFFFEFF2FF}">
      <dgm:prSet/>
      <dgm:spPr/>
      <dgm:t>
        <a:bodyPr/>
        <a:lstStyle/>
        <a:p>
          <a:endParaRPr lang="en-US"/>
        </a:p>
      </dgm:t>
    </dgm:pt>
    <dgm:pt modelId="{1771CA61-ACA0-4C2A-ACB4-87F3107DC681}" type="sibTrans" cxnId="{6D016F1D-061E-47B6-9211-EAAFFFEFF2FF}">
      <dgm:prSet/>
      <dgm:spPr/>
      <dgm:t>
        <a:bodyPr/>
        <a:lstStyle/>
        <a:p>
          <a:endParaRPr lang="en-US"/>
        </a:p>
      </dgm:t>
    </dgm:pt>
    <dgm:pt modelId="{5A3C6048-B955-499F-AA4E-4D0FC591BDE8}">
      <dgm:prSet/>
      <dgm:spPr/>
      <dgm:t>
        <a:bodyPr/>
        <a:lstStyle/>
        <a:p>
          <a:r>
            <a:rPr lang="en-US"/>
            <a:t>Données météorologiques réelles (Open-Meteo API)</a:t>
          </a:r>
        </a:p>
      </dgm:t>
    </dgm:pt>
    <dgm:pt modelId="{4C1C2CD1-D642-4AE8-AA5B-1CC61B8397A0}" type="parTrans" cxnId="{5E2797E6-1A93-4370-81EF-D301AB038B5B}">
      <dgm:prSet/>
      <dgm:spPr/>
      <dgm:t>
        <a:bodyPr/>
        <a:lstStyle/>
        <a:p>
          <a:endParaRPr lang="en-US"/>
        </a:p>
      </dgm:t>
    </dgm:pt>
    <dgm:pt modelId="{9367D967-7B0D-47F3-B8E8-C13F641A3022}" type="sibTrans" cxnId="{5E2797E6-1A93-4370-81EF-D301AB038B5B}">
      <dgm:prSet/>
      <dgm:spPr/>
      <dgm:t>
        <a:bodyPr/>
        <a:lstStyle/>
        <a:p>
          <a:endParaRPr lang="en-US"/>
        </a:p>
      </dgm:t>
    </dgm:pt>
    <dgm:pt modelId="{BFE07EC7-E784-40F3-A423-432779B5164C}">
      <dgm:prSet/>
      <dgm:spPr/>
      <dgm:t>
        <a:bodyPr/>
        <a:lstStyle/>
        <a:p>
          <a:r>
            <a:rPr lang="en-US" dirty="0"/>
            <a:t>Instant </a:t>
          </a:r>
          <a:r>
            <a:rPr lang="en-US" dirty="0" err="1"/>
            <a:t>temporel</a:t>
          </a:r>
          <a:r>
            <a:rPr lang="en-US" dirty="0"/>
            <a:t> </a:t>
          </a:r>
          <a:r>
            <a:rPr lang="en-US" dirty="0" err="1"/>
            <a:t>d’exécution</a:t>
          </a:r>
          <a:r>
            <a:rPr lang="fr-FR" dirty="0"/>
            <a:t> à un endroit X</a:t>
          </a:r>
          <a:endParaRPr lang="en-US" dirty="0"/>
        </a:p>
      </dgm:t>
    </dgm:pt>
    <dgm:pt modelId="{120D11A4-A7A4-48A6-AFF9-AA9EDD4E537B}" type="parTrans" cxnId="{BF55850E-538C-4F36-B581-394C180619AC}">
      <dgm:prSet/>
      <dgm:spPr/>
      <dgm:t>
        <a:bodyPr/>
        <a:lstStyle/>
        <a:p>
          <a:endParaRPr lang="en-US"/>
        </a:p>
      </dgm:t>
    </dgm:pt>
    <dgm:pt modelId="{75297CFA-8C63-4FAB-9EAE-0706C201B3F3}" type="sibTrans" cxnId="{BF55850E-538C-4F36-B581-394C180619AC}">
      <dgm:prSet/>
      <dgm:spPr/>
      <dgm:t>
        <a:bodyPr/>
        <a:lstStyle/>
        <a:p>
          <a:endParaRPr lang="en-US"/>
        </a:p>
      </dgm:t>
    </dgm:pt>
    <dgm:pt modelId="{0D0347DA-7A9A-C649-AD1C-1A0F42D9EB44}" type="pres">
      <dgm:prSet presAssocID="{075A0FD4-A8BE-4C1D-9142-A094590AE1D3}" presName="Name0" presStyleCnt="0">
        <dgm:presLayoutVars>
          <dgm:dir/>
          <dgm:animLvl val="lvl"/>
          <dgm:resizeHandles val="exact"/>
        </dgm:presLayoutVars>
      </dgm:prSet>
      <dgm:spPr/>
    </dgm:pt>
    <dgm:pt modelId="{838EE921-5D58-1644-B6C8-7BA8AD63724E}" type="pres">
      <dgm:prSet presAssocID="{A4DAC0A3-5226-4E69-B01B-BE93C55AF25E}" presName="linNode" presStyleCnt="0"/>
      <dgm:spPr/>
    </dgm:pt>
    <dgm:pt modelId="{1B79BF37-20AF-824A-B961-34228BE3A11F}" type="pres">
      <dgm:prSet presAssocID="{A4DAC0A3-5226-4E69-B01B-BE93C55AF25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E1755C6-3F7C-264F-AB8C-6557DE095662}" type="pres">
      <dgm:prSet presAssocID="{A4DAC0A3-5226-4E69-B01B-BE93C55AF25E}" presName="descendantText" presStyleLbl="alignAccFollowNode1" presStyleIdx="0" presStyleCnt="2">
        <dgm:presLayoutVars>
          <dgm:bulletEnabled val="1"/>
        </dgm:presLayoutVars>
      </dgm:prSet>
      <dgm:spPr/>
    </dgm:pt>
    <dgm:pt modelId="{8C148019-DEF0-4F4D-ADB9-61835D563188}" type="pres">
      <dgm:prSet presAssocID="{A544209E-1C2C-4260-AC6B-A1314C0EEF84}" presName="sp" presStyleCnt="0"/>
      <dgm:spPr/>
    </dgm:pt>
    <dgm:pt modelId="{BDFFA008-7E09-5A4C-B5FE-1D7946B9AAA4}" type="pres">
      <dgm:prSet presAssocID="{5A3C6048-B955-499F-AA4E-4D0FC591BDE8}" presName="linNode" presStyleCnt="0"/>
      <dgm:spPr/>
    </dgm:pt>
    <dgm:pt modelId="{E4820076-5083-9F42-B807-BA72FFDF220F}" type="pres">
      <dgm:prSet presAssocID="{5A3C6048-B955-499F-AA4E-4D0FC591BDE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64C09B5-057E-454B-BAF1-BE45A0D3BB7E}" type="pres">
      <dgm:prSet presAssocID="{5A3C6048-B955-499F-AA4E-4D0FC591BDE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BF55850E-538C-4F36-B581-394C180619AC}" srcId="{5A3C6048-B955-499F-AA4E-4D0FC591BDE8}" destId="{BFE07EC7-E784-40F3-A423-432779B5164C}" srcOrd="0" destOrd="0" parTransId="{120D11A4-A7A4-48A6-AFF9-AA9EDD4E537B}" sibTransId="{75297CFA-8C63-4FAB-9EAE-0706C201B3F3}"/>
    <dgm:cxn modelId="{6D016F1D-061E-47B6-9211-EAAFFFEFF2FF}" srcId="{A4DAC0A3-5226-4E69-B01B-BE93C55AF25E}" destId="{76E8BA0B-4AC5-4DCD-AAE2-86A90F47852D}" srcOrd="0" destOrd="0" parTransId="{0E9B9EEA-F26C-42B4-9B29-8BB0391A57B7}" sibTransId="{1771CA61-ACA0-4C2A-ACB4-87F3107DC681}"/>
    <dgm:cxn modelId="{90189025-3856-C541-A3E6-6FA4EB138936}" type="presOf" srcId="{A4DAC0A3-5226-4E69-B01B-BE93C55AF25E}" destId="{1B79BF37-20AF-824A-B961-34228BE3A11F}" srcOrd="0" destOrd="0" presId="urn:microsoft.com/office/officeart/2005/8/layout/vList5"/>
    <dgm:cxn modelId="{12E8ED45-74EE-8247-81EE-47BE5B1D599D}" type="presOf" srcId="{BFE07EC7-E784-40F3-A423-432779B5164C}" destId="{F64C09B5-057E-454B-BAF1-BE45A0D3BB7E}" srcOrd="0" destOrd="0" presId="urn:microsoft.com/office/officeart/2005/8/layout/vList5"/>
    <dgm:cxn modelId="{4BCD7D54-A5C5-BC44-9414-9A0B47BA8620}" type="presOf" srcId="{5A3C6048-B955-499F-AA4E-4D0FC591BDE8}" destId="{E4820076-5083-9F42-B807-BA72FFDF220F}" srcOrd="0" destOrd="0" presId="urn:microsoft.com/office/officeart/2005/8/layout/vList5"/>
    <dgm:cxn modelId="{E2E21AA3-652F-470E-B427-5E566798AEC4}" srcId="{075A0FD4-A8BE-4C1D-9142-A094590AE1D3}" destId="{A4DAC0A3-5226-4E69-B01B-BE93C55AF25E}" srcOrd="0" destOrd="0" parTransId="{FE2768DB-65A5-4BD5-893C-227B9999908A}" sibTransId="{A544209E-1C2C-4260-AC6B-A1314C0EEF84}"/>
    <dgm:cxn modelId="{30C1BCB3-A078-5F40-B0F7-39B2B107A116}" type="presOf" srcId="{075A0FD4-A8BE-4C1D-9142-A094590AE1D3}" destId="{0D0347DA-7A9A-C649-AD1C-1A0F42D9EB44}" srcOrd="0" destOrd="0" presId="urn:microsoft.com/office/officeart/2005/8/layout/vList5"/>
    <dgm:cxn modelId="{B053BDB7-3AF5-8845-93F6-B93C8530FAB7}" type="presOf" srcId="{76E8BA0B-4AC5-4DCD-AAE2-86A90F47852D}" destId="{AE1755C6-3F7C-264F-AB8C-6557DE095662}" srcOrd="0" destOrd="0" presId="urn:microsoft.com/office/officeart/2005/8/layout/vList5"/>
    <dgm:cxn modelId="{5E2797E6-1A93-4370-81EF-D301AB038B5B}" srcId="{075A0FD4-A8BE-4C1D-9142-A094590AE1D3}" destId="{5A3C6048-B955-499F-AA4E-4D0FC591BDE8}" srcOrd="1" destOrd="0" parTransId="{4C1C2CD1-D642-4AE8-AA5B-1CC61B8397A0}" sibTransId="{9367D967-7B0D-47F3-B8E8-C13F641A3022}"/>
    <dgm:cxn modelId="{AEFE5E9E-A03F-2F41-BF9B-111C0E3872EC}" type="presParOf" srcId="{0D0347DA-7A9A-C649-AD1C-1A0F42D9EB44}" destId="{838EE921-5D58-1644-B6C8-7BA8AD63724E}" srcOrd="0" destOrd="0" presId="urn:microsoft.com/office/officeart/2005/8/layout/vList5"/>
    <dgm:cxn modelId="{EBE017A6-31D8-F54D-AC58-E6DE88DC8C3B}" type="presParOf" srcId="{838EE921-5D58-1644-B6C8-7BA8AD63724E}" destId="{1B79BF37-20AF-824A-B961-34228BE3A11F}" srcOrd="0" destOrd="0" presId="urn:microsoft.com/office/officeart/2005/8/layout/vList5"/>
    <dgm:cxn modelId="{151A520F-26C2-1543-B289-2E2749ECE385}" type="presParOf" srcId="{838EE921-5D58-1644-B6C8-7BA8AD63724E}" destId="{AE1755C6-3F7C-264F-AB8C-6557DE095662}" srcOrd="1" destOrd="0" presId="urn:microsoft.com/office/officeart/2005/8/layout/vList5"/>
    <dgm:cxn modelId="{F1C5C806-921E-5143-98A9-89DFE3AFA65F}" type="presParOf" srcId="{0D0347DA-7A9A-C649-AD1C-1A0F42D9EB44}" destId="{8C148019-DEF0-4F4D-ADB9-61835D563188}" srcOrd="1" destOrd="0" presId="urn:microsoft.com/office/officeart/2005/8/layout/vList5"/>
    <dgm:cxn modelId="{CE8973EA-78BC-7E48-BA01-ED6BEE5DB90B}" type="presParOf" srcId="{0D0347DA-7A9A-C649-AD1C-1A0F42D9EB44}" destId="{BDFFA008-7E09-5A4C-B5FE-1D7946B9AAA4}" srcOrd="2" destOrd="0" presId="urn:microsoft.com/office/officeart/2005/8/layout/vList5"/>
    <dgm:cxn modelId="{6B1601FE-A624-794B-9E19-01A257F4B0C6}" type="presParOf" srcId="{BDFFA008-7E09-5A4C-B5FE-1D7946B9AAA4}" destId="{E4820076-5083-9F42-B807-BA72FFDF220F}" srcOrd="0" destOrd="0" presId="urn:microsoft.com/office/officeart/2005/8/layout/vList5"/>
    <dgm:cxn modelId="{470E9973-EEC6-6B47-B9FE-8ABAE04165AE}" type="presParOf" srcId="{BDFFA008-7E09-5A4C-B5FE-1D7946B9AAA4}" destId="{F64C09B5-057E-454B-BAF1-BE45A0D3BB7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1755C6-3F7C-264F-AB8C-6557DE095662}">
      <dsp:nvSpPr>
        <dsp:cNvPr id="0" name=""/>
        <dsp:cNvSpPr/>
      </dsp:nvSpPr>
      <dsp:spPr>
        <a:xfrm rot="5400000">
          <a:off x="4106539" y="-1309916"/>
          <a:ext cx="1597417" cy="461670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Nombre de personnes détectées</a:t>
          </a:r>
        </a:p>
      </dsp:txBody>
      <dsp:txXfrm rot="-5400000">
        <a:off x="2596896" y="277706"/>
        <a:ext cx="4538725" cy="1441459"/>
      </dsp:txXfrm>
    </dsp:sp>
    <dsp:sp modelId="{1B79BF37-20AF-824A-B961-34228BE3A11F}">
      <dsp:nvSpPr>
        <dsp:cNvPr id="0" name=""/>
        <dsp:cNvSpPr/>
      </dsp:nvSpPr>
      <dsp:spPr>
        <a:xfrm>
          <a:off x="0" y="49"/>
          <a:ext cx="2596896" cy="19967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Caméra urbaine en direct (Place de la Comédie, Montpellier)</a:t>
          </a:r>
        </a:p>
      </dsp:txBody>
      <dsp:txXfrm>
        <a:off x="97474" y="97523"/>
        <a:ext cx="2401948" cy="1801823"/>
      </dsp:txXfrm>
    </dsp:sp>
    <dsp:sp modelId="{F64C09B5-057E-454B-BAF1-BE45A0D3BB7E}">
      <dsp:nvSpPr>
        <dsp:cNvPr id="0" name=""/>
        <dsp:cNvSpPr/>
      </dsp:nvSpPr>
      <dsp:spPr>
        <a:xfrm rot="5400000">
          <a:off x="4106539" y="786694"/>
          <a:ext cx="1597417" cy="4616704"/>
        </a:xfrm>
        <a:prstGeom prst="round2Same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Instant </a:t>
          </a:r>
          <a:r>
            <a:rPr lang="en-US" sz="3300" kern="1200" dirty="0" err="1"/>
            <a:t>temporel</a:t>
          </a:r>
          <a:r>
            <a:rPr lang="en-US" sz="3300" kern="1200" dirty="0"/>
            <a:t> </a:t>
          </a:r>
          <a:r>
            <a:rPr lang="en-US" sz="3300" kern="1200" dirty="0" err="1"/>
            <a:t>d’exécution</a:t>
          </a:r>
          <a:r>
            <a:rPr lang="fr-FR" sz="3300" kern="1200" dirty="0"/>
            <a:t> à un endroit X</a:t>
          </a:r>
          <a:endParaRPr lang="en-US" sz="3300" kern="1200" dirty="0"/>
        </a:p>
      </dsp:txBody>
      <dsp:txXfrm rot="-5400000">
        <a:off x="2596896" y="2374317"/>
        <a:ext cx="4538725" cy="1441459"/>
      </dsp:txXfrm>
    </dsp:sp>
    <dsp:sp modelId="{E4820076-5083-9F42-B807-BA72FFDF220F}">
      <dsp:nvSpPr>
        <dsp:cNvPr id="0" name=""/>
        <dsp:cNvSpPr/>
      </dsp:nvSpPr>
      <dsp:spPr>
        <a:xfrm>
          <a:off x="0" y="2096660"/>
          <a:ext cx="2596896" cy="1996771"/>
        </a:xfrm>
        <a:prstGeom prst="round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Données météorologiques réelles (Open-Meteo API)</a:t>
          </a:r>
        </a:p>
      </dsp:txBody>
      <dsp:txXfrm>
        <a:off x="97474" y="2194134"/>
        <a:ext cx="2401948" cy="1801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C20E0-E184-DE4B-898D-6F47BE594BB2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5D2C5-674F-1E49-A1A2-5376B0DB24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63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5D2C5-674F-1E49-A1A2-5376B0DB240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039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0A51-D917-6134-735F-97C8C93C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191D96-5B8C-91FC-7248-F23B884CB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F888D7-8486-6CFD-DEEA-DB7678E2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4822E9-D9B9-FD88-7FB2-8C80936BE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5D2C5-674F-1E49-A1A2-5376B0DB240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652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C63C-AC28-4442-B46F-207C6C70676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5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AE4A-6489-4D8C-9CDC-4CF0D5C6BE6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0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CD16-3F85-4DE4-93E3-8428E86D548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0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6173-DD89-4C6F-8990-E06251C5D119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3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C851-25CF-4257-9EFD-DD171037BD57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1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9DC2-DC45-4379-A291-FB07B39780DC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8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7757-5473-41E8-814C-3623B2EA38A4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6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32E1-306D-45F5-BCF9-264FE7D5A9E9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0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7ADDB-D69D-499A-B8E5-79C3C5AE255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8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C6BC-E66D-4440-B234-57FC051972D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2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C5583-7F77-40A0-8ED1-2ABC18F9E44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1958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B5C4-95DA-4371-A16A-8F61C4027C2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89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8492-24A6-4CDD-8C5C-A54206F958F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9757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A52D7-26FC-4F7F-BBE8-E6EC14486EA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09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538BB-D93B-4824-942B-46690C7D30E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62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85BE-9714-46E1-8724-C41784A819B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4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B80FC-387A-4072-A8A5-69A5F86EBC5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7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 ciel orange">
            <a:extLst>
              <a:ext uri="{FF2B5EF4-FFF2-40B4-BE49-F238E27FC236}">
                <a16:creationId xmlns:a16="http://schemas.microsoft.com/office/drawing/2014/main" id="{0F251394-2F8E-78C9-B04A-E55880F8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8" r="17718" b="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650" y="1678666"/>
            <a:ext cx="3066142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300"/>
              <a:t>Générateur d’Entropie Hybride</a:t>
            </a:r>
          </a:p>
          <a:p>
            <a:pPr>
              <a:lnSpc>
                <a:spcPct val="90000"/>
              </a:lnSpc>
            </a:pPr>
            <a:r>
              <a:rPr lang="fr-FR" sz="3300"/>
              <a:t>Basé sur le Monde Réel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1" y="4050831"/>
            <a:ext cx="3059791" cy="1096901"/>
          </a:xfrm>
        </p:spPr>
        <p:txBody>
          <a:bodyPr>
            <a:normAutofit fontScale="92500" lnSpcReduction="10000"/>
          </a:bodyPr>
          <a:lstStyle/>
          <a:p>
            <a:r>
              <a:rPr lang="fr-FR" sz="1400" dirty="0"/>
              <a:t>Caméra urbaine, météo et visualisations</a:t>
            </a:r>
          </a:p>
          <a:p>
            <a:r>
              <a:rPr lang="fr-FR" sz="1400" dirty="0"/>
              <a:t>Dylan </a:t>
            </a:r>
            <a:r>
              <a:rPr lang="fr-FR" sz="1400" dirty="0" err="1"/>
              <a:t>Llodra</a:t>
            </a:r>
            <a:endParaRPr lang="fr-FR" sz="1400" dirty="0"/>
          </a:p>
          <a:p>
            <a:r>
              <a:rPr lang="fr-FR" sz="1400" dirty="0"/>
              <a:t>Léo Bourles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fr-FR">
                <a:solidFill>
                  <a:schemeClr val="tx1">
                    <a:lumMod val="85000"/>
                    <a:lumOff val="15000"/>
                  </a:schemeClr>
                </a:solidFill>
              </a:rPr>
              <a:t>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3174" y="609600"/>
            <a:ext cx="4133472" cy="51756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Créer un générateur d’entropie original</a:t>
            </a:r>
          </a:p>
          <a:p>
            <a:pPr lvl="1"/>
            <a:r>
              <a:rPr lang="fr-FR" dirty="0">
                <a:solidFill>
                  <a:srgbClr val="FFFFFF"/>
                </a:solidFill>
              </a:rPr>
              <a:t>S’appuyer sur des phénomènes réels et imprévisibles</a:t>
            </a:r>
          </a:p>
          <a:p>
            <a:pPr lvl="1"/>
            <a:r>
              <a:rPr lang="fr-FR" dirty="0">
                <a:solidFill>
                  <a:srgbClr val="FFFFFF"/>
                </a:solidFill>
              </a:rPr>
              <a:t>Générer une clé cryptographique 256 bits</a:t>
            </a:r>
          </a:p>
          <a:p>
            <a:pPr lvl="1"/>
            <a:r>
              <a:rPr lang="fr-FR" dirty="0">
                <a:solidFill>
                  <a:srgbClr val="FFFFFF"/>
                </a:solidFill>
              </a:rPr>
              <a:t>Démontrer l’exploitation concrète de cette entropie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55702F-DDA5-5AF0-41A9-0EE00893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Sources d’entropie utilisées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6A6283-D3A9-FFA5-72EC-1765B3F65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51857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DCABF5-D9D6-7C65-F072-537BBF1F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4812" y="6248400"/>
            <a:ext cx="51263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800"/>
              <a:t>Caméra urbaine &amp; détection humaine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514354" cy="3880773"/>
          </a:xfrm>
        </p:spPr>
        <p:txBody>
          <a:bodyPr>
            <a:normAutofit/>
          </a:bodyPr>
          <a:lstStyle/>
          <a:p>
            <a:r>
              <a:rPr lang="fr-FR" dirty="0"/>
              <a:t>Extraction d’une image à un instant </a:t>
            </a:r>
            <a:r>
              <a:rPr lang="fr-FR" dirty="0" err="1"/>
              <a:t>T</a:t>
            </a:r>
            <a:endParaRPr lang="fr-FR" dirty="0"/>
          </a:p>
          <a:p>
            <a:pPr lvl="1"/>
            <a:r>
              <a:rPr lang="fr-FR" dirty="0"/>
              <a:t>Détection automatique des personnes (</a:t>
            </a:r>
            <a:r>
              <a:rPr lang="fr-FR" dirty="0" err="1"/>
              <a:t>OpenCV</a:t>
            </a:r>
            <a:r>
              <a:rPr lang="fr-FR" dirty="0"/>
              <a:t> / IA)</a:t>
            </a:r>
          </a:p>
          <a:p>
            <a:pPr lvl="1"/>
            <a:r>
              <a:rPr lang="fr-FR" dirty="0"/>
              <a:t>Le mouvement humain est imprévisible</a:t>
            </a:r>
          </a:p>
          <a:p>
            <a:pPr lvl="1"/>
            <a:r>
              <a:rPr lang="fr-FR" dirty="0"/>
              <a:t>Première source d’entropie du système</a:t>
            </a:r>
          </a:p>
        </p:txBody>
      </p:sp>
      <p:pic>
        <p:nvPicPr>
          <p:cNvPr id="5" name="Image 4" descr="Une image contenant plein air, ciel, arbre, bâtiment&#10;&#10;Le contenu généré par l’IA peut être incorrect.">
            <a:extLst>
              <a:ext uri="{FF2B5EF4-FFF2-40B4-BE49-F238E27FC236}">
                <a16:creationId xmlns:a16="http://schemas.microsoft.com/office/drawing/2014/main" id="{030E2BB4-6B46-004C-9F55-A40B504C8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04" r="3560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9" name="Isosceles Triangle 3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611A7E-F253-B6A6-09A4-31467215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fr-FR"/>
              <a:t>Données météorologiques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60589"/>
            <a:ext cx="3606522" cy="3880773"/>
          </a:xfrm>
        </p:spPr>
        <p:txBody>
          <a:bodyPr>
            <a:normAutofit/>
          </a:bodyPr>
          <a:lstStyle/>
          <a:p>
            <a:r>
              <a:rPr dirty="0" err="1"/>
              <a:t>Température</a:t>
            </a:r>
            <a:r>
              <a:rPr dirty="0"/>
              <a:t>, </a:t>
            </a:r>
            <a:r>
              <a:rPr dirty="0" err="1"/>
              <a:t>humidité</a:t>
            </a:r>
            <a:r>
              <a:rPr dirty="0"/>
              <a:t>, pression</a:t>
            </a:r>
          </a:p>
          <a:p>
            <a:pPr lvl="1"/>
            <a:r>
              <a:rPr dirty="0"/>
              <a:t>Vent, </a:t>
            </a:r>
            <a:r>
              <a:rPr dirty="0" err="1"/>
              <a:t>précipitations</a:t>
            </a:r>
            <a:r>
              <a:rPr dirty="0"/>
              <a:t>, couverture </a:t>
            </a:r>
            <a:r>
              <a:rPr dirty="0" err="1"/>
              <a:t>nuageuse</a:t>
            </a:r>
            <a:endParaRPr dirty="0"/>
          </a:p>
          <a:p>
            <a:pPr lvl="1"/>
            <a:r>
              <a:rPr dirty="0"/>
              <a:t>Données </a:t>
            </a:r>
            <a:r>
              <a:rPr dirty="0" err="1"/>
              <a:t>réelles</a:t>
            </a:r>
            <a:r>
              <a:rPr dirty="0"/>
              <a:t>, </a:t>
            </a:r>
            <a:r>
              <a:rPr dirty="0" err="1"/>
              <a:t>chaotiques</a:t>
            </a:r>
            <a:r>
              <a:rPr dirty="0"/>
              <a:t> et </a:t>
            </a:r>
            <a:r>
              <a:rPr dirty="0" err="1"/>
              <a:t>dynamiques</a:t>
            </a:r>
            <a:endParaRPr dirty="0"/>
          </a:p>
          <a:p>
            <a:pPr lvl="1"/>
            <a:r>
              <a:rPr dirty="0" err="1"/>
              <a:t>Seconde</a:t>
            </a:r>
            <a:r>
              <a:rPr dirty="0"/>
              <a:t> source </a:t>
            </a:r>
            <a:r>
              <a:rPr dirty="0" err="1"/>
              <a:t>d’entropie</a:t>
            </a:r>
            <a:endParaRPr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14B90AF-DC28-231A-29A6-538358DB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63" b="4"/>
          <a:stretch>
            <a:fillRect/>
          </a:stretch>
        </p:blipFill>
        <p:spPr>
          <a:xfrm>
            <a:off x="3731750" y="2159000"/>
            <a:ext cx="3311287" cy="388236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BD022-CD06-5903-D2E2-34146DD9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E4240-CB4D-9C1C-BB48-909898F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dessin humoristique, Dessin animé, peinture&#10;&#10;Le contenu généré par l’IA peut être incorrect.">
            <a:extLst>
              <a:ext uri="{FF2B5EF4-FFF2-40B4-BE49-F238E27FC236}">
                <a16:creationId xmlns:a16="http://schemas.microsoft.com/office/drawing/2014/main" id="{DCDD1EBE-52CE-9A55-6CED-1E90D9FC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92" y="1"/>
            <a:ext cx="357680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481525-B961-A028-C04F-BCCDF5BC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26" y="167813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800" dirty="0"/>
              <a:t>Flux de streaming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899E7-A840-ACD4-5971-C572FC4F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1090678"/>
            <a:ext cx="3514354" cy="5970521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Extraction de métadonnées dynamiques :</a:t>
            </a:r>
          </a:p>
          <a:p>
            <a:pPr lvl="1"/>
            <a:r>
              <a:rPr lang="fr-FR" dirty="0"/>
              <a:t>Récupération en temps réel du nombre de spectateurs et du compteur de likes.</a:t>
            </a:r>
          </a:p>
          <a:p>
            <a:pPr lvl="1"/>
            <a:r>
              <a:rPr lang="fr-FR" dirty="0"/>
              <a:t>Utilisation de la bibliothèque </a:t>
            </a:r>
            <a:r>
              <a:rPr lang="fr-FR" dirty="0" err="1"/>
              <a:t>yt-dlp</a:t>
            </a:r>
            <a:r>
              <a:rPr lang="fr-FR" dirty="0"/>
              <a:t> pour interroger </a:t>
            </a:r>
            <a:r>
              <a:rPr lang="fr-FR" b="1" dirty="0"/>
              <a:t>Imprévisibilité sociale :</a:t>
            </a:r>
            <a:endParaRPr lang="fr-FR" dirty="0"/>
          </a:p>
          <a:p>
            <a:r>
              <a:rPr lang="fr-FR" dirty="0"/>
              <a:t>Le comportement des utilisateurs (entrées/sorties du live) constitue un bruit numérique chaotique.</a:t>
            </a:r>
          </a:p>
          <a:p>
            <a:pPr lvl="1"/>
            <a:r>
              <a:rPr lang="fr-FR" dirty="0"/>
              <a:t>Variations constantes à la nanoseconde près, rendant la graine (</a:t>
            </a:r>
            <a:r>
              <a:rPr lang="fr-FR" dirty="0" err="1"/>
              <a:t>seed</a:t>
            </a:r>
            <a:r>
              <a:rPr lang="fr-FR" dirty="0"/>
              <a:t>) impossible à reproduire.</a:t>
            </a:r>
          </a:p>
          <a:p>
            <a:pPr lvl="1"/>
            <a:r>
              <a:rPr lang="fr-FR" dirty="0"/>
              <a:t>Utilisation de la bibliothèque </a:t>
            </a:r>
            <a:r>
              <a:rPr lang="fr-FR" dirty="0" err="1"/>
              <a:t>yt-dlp</a:t>
            </a:r>
            <a:r>
              <a:rPr lang="fr-FR" dirty="0"/>
              <a:t> pour interroger l'API YouTube sans téléchargement de flux </a:t>
            </a:r>
            <a:r>
              <a:rPr lang="fr-FR" dirty="0" err="1"/>
              <a:t>vidéo.</a:t>
            </a:r>
            <a:r>
              <a:rPr lang="fr-FR" b="1" dirty="0" err="1"/>
              <a:t>Combinaison</a:t>
            </a:r>
            <a:r>
              <a:rPr lang="fr-FR" b="1" dirty="0"/>
              <a:t> algorithmique :</a:t>
            </a:r>
            <a:endParaRPr lang="fr-FR" dirty="0"/>
          </a:p>
          <a:p>
            <a:pPr lvl="1"/>
            <a:r>
              <a:rPr lang="fr-FR" dirty="0"/>
              <a:t>Hachage (SHA-256) des données sociales mélangées au temps système local (</a:t>
            </a:r>
            <a:r>
              <a:rPr lang="fr-FR" dirty="0" err="1"/>
              <a:t>time_ns</a:t>
            </a:r>
            <a:r>
              <a:rPr lang="fr-FR" dirty="0"/>
              <a:t>).</a:t>
            </a:r>
          </a:p>
          <a:p>
            <a:pPr lvl="1"/>
            <a:r>
              <a:rPr lang="fr-FR" dirty="0"/>
              <a:t>Garantit que même si deux utilisateurs lancent le script au même instant, la clé finale sera différente.</a:t>
            </a:r>
          </a:p>
          <a:p>
            <a:pPr lvl="1"/>
            <a:endParaRPr lang="fr-FR" dirty="0"/>
          </a:p>
        </p:txBody>
      </p:sp>
      <p:sp>
        <p:nvSpPr>
          <p:cNvPr id="39" name="Isosceles Triangle 30">
            <a:extLst>
              <a:ext uri="{FF2B5EF4-FFF2-40B4-BE49-F238E27FC236}">
                <a16:creationId xmlns:a16="http://schemas.microsoft.com/office/drawing/2014/main" id="{1499007A-FE71-BC88-8CF1-906052BE6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C2496849-43B8-49EC-50EA-31B077FC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362" y="6492875"/>
            <a:ext cx="512638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802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0DE54-FE23-886E-D272-4D62D239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1CE6-4228-8930-3FCE-9CD01A2C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fr-FR" dirty="0"/>
              <a:t>Trafic Aérien Global (</a:t>
            </a:r>
            <a:r>
              <a:rPr lang="fr-FR" dirty="0" err="1"/>
              <a:t>OpenSky</a:t>
            </a:r>
            <a:r>
              <a:rPr lang="fr-F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5622-2F43-E44E-0F08-9625B9E9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160589"/>
            <a:ext cx="5105401" cy="3880773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Capture de données télémétriques :</a:t>
            </a:r>
          </a:p>
          <a:p>
            <a:pPr lvl="1"/>
            <a:r>
              <a:rPr lang="fr-FR" dirty="0"/>
              <a:t>Utilisation de l'API </a:t>
            </a:r>
            <a:r>
              <a:rPr lang="fr-FR" dirty="0" err="1"/>
              <a:t>OpenSky</a:t>
            </a:r>
            <a:r>
              <a:rPr lang="fr-FR" dirty="0"/>
              <a:t> Network pour récupérer l'état du trafic aérien en temps réel (vecteurs d'état).</a:t>
            </a:r>
          </a:p>
          <a:p>
            <a:pPr lvl="1"/>
            <a:r>
              <a:rPr lang="fr-FR" dirty="0"/>
              <a:t>Extraction de données hautement variables : positions (latitude/longitude), altitudes, vitesses et indicatifs d'appel des aéronefs.</a:t>
            </a:r>
          </a:p>
          <a:p>
            <a:r>
              <a:rPr lang="fr-FR" dirty="0"/>
              <a:t>Chaos physique et environnemental :</a:t>
            </a:r>
          </a:p>
          <a:p>
            <a:pPr lvl="1"/>
            <a:r>
              <a:rPr lang="fr-FR" dirty="0"/>
              <a:t>Le mouvement des avions est soumis à des variables imprévisibles : turbulences, délais de contrôle aérien et conditions météorologiques.</a:t>
            </a:r>
          </a:p>
          <a:p>
            <a:pPr lvl="1"/>
            <a:r>
              <a:rPr lang="fr-FR" dirty="0"/>
              <a:t>La distribution aléatoire des appareils dans l'espace aérien à un instant $T$ fournit une source d'entropie à grande échelle.</a:t>
            </a:r>
            <a:endParaRPr dirty="0"/>
          </a:p>
        </p:txBody>
      </p:sp>
      <p:pic>
        <p:nvPicPr>
          <p:cNvPr id="8" name="Image 7" descr="Une image contenant carte, violet&#10;&#10;Le contenu généré par l’IA peut être incorrect.">
            <a:extLst>
              <a:ext uri="{FF2B5EF4-FFF2-40B4-BE49-F238E27FC236}">
                <a16:creationId xmlns:a16="http://schemas.microsoft.com/office/drawing/2014/main" id="{300F39C2-C62A-84BC-3CF1-B3F99C3A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808" y="2160589"/>
            <a:ext cx="4159192" cy="3708400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EEAF9D-D283-19E1-5D89-6475E0DE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3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Génération de la clé 256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t>Nettoyage et transformation numérique des données</a:t>
            </a:r>
          </a:p>
          <a:p>
            <a:pPr lvl="1"/>
            <a:r>
              <a:t>Combinaison des sources d’entropie</a:t>
            </a:r>
          </a:p>
          <a:p>
            <a:pPr lvl="1"/>
            <a:r>
              <a:t>Production d’une clé cryptographique</a:t>
            </a:r>
          </a:p>
          <a:p>
            <a:pPr lvl="1"/>
            <a:r>
              <a:t>Formats : hexadécimal et bytes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503625-73E3-B0EB-0721-B44A2E31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fr-FR" dirty="0"/>
              <a:t>Nuage de points pseudo-aléatoire</a:t>
            </a:r>
          </a:p>
        </p:txBody>
      </p:sp>
      <p:pic>
        <p:nvPicPr>
          <p:cNvPr id="5" name="Image 4" descr="Une image contenant capture d’écran, texte, ligne, nombre&#10;&#10;Le contenu généré par l’IA peut être incorrect.">
            <a:extLst>
              <a:ext uri="{FF2B5EF4-FFF2-40B4-BE49-F238E27FC236}">
                <a16:creationId xmlns:a16="http://schemas.microsoft.com/office/drawing/2014/main" id="{144F2AC9-75B9-07B7-85DD-8B7EA995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34" y="3809561"/>
            <a:ext cx="5468718" cy="291765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603" y="2049927"/>
            <a:ext cx="5206898" cy="3880773"/>
          </a:xfrm>
        </p:spPr>
        <p:txBody>
          <a:bodyPr>
            <a:normAutofit/>
          </a:bodyPr>
          <a:lstStyle/>
          <a:p>
            <a:r>
              <a:rPr lang="fr-FR" sz="1300" dirty="0"/>
              <a:t>La clé 256 bits est utilisée comme </a:t>
            </a:r>
            <a:r>
              <a:rPr lang="fr-FR" sz="1300" dirty="0" err="1"/>
              <a:t>seed</a:t>
            </a:r>
            <a:endParaRPr lang="fr-FR" sz="1300" dirty="0"/>
          </a:p>
          <a:p>
            <a:pPr lvl="1"/>
            <a:r>
              <a:rPr lang="fr-FR" sz="1300" dirty="0"/>
              <a:t>Génération de 1000 valeurs pseudo-aléatoires</a:t>
            </a:r>
          </a:p>
          <a:p>
            <a:pPr lvl="1"/>
            <a:r>
              <a:rPr lang="fr-FR" sz="1300" dirty="0"/>
              <a:t>Visualisation sous forme de nuage de points</a:t>
            </a:r>
          </a:p>
          <a:p>
            <a:pPr lvl="1"/>
            <a:r>
              <a:rPr lang="fr-FR" sz="1300" dirty="0"/>
              <a:t>Analyse de la distribution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5DF2B-E093-9879-066E-0000FD77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0" cy="1320800"/>
          </a:xfrm>
        </p:spPr>
        <p:txBody>
          <a:bodyPr>
            <a:normAutofit/>
          </a:bodyPr>
          <a:lstStyle/>
          <a:p>
            <a:r>
              <a:rPr lang="fr-FR"/>
              <a:t>Roulette de casino</a:t>
            </a:r>
          </a:p>
        </p:txBody>
      </p:sp>
      <p:sp>
        <p:nvSpPr>
          <p:cNvPr id="12" name="Isosceles Triangle 8">
            <a:extLst>
              <a:ext uri="{FF2B5EF4-FFF2-40B4-BE49-F238E27FC236}">
                <a16:creationId xmlns:a16="http://schemas.microsoft.com/office/drawing/2014/main" id="{98EE4960-6ED7-49B4-BEEE-A96A0C83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357491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7" name="Image 6" descr="Une image contenant text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13091171-50D9-3D7D-F821-F440CB0F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66" r="14280" b="1"/>
          <a:stretch>
            <a:fillRect/>
          </a:stretch>
        </p:blipFill>
        <p:spPr>
          <a:xfrm>
            <a:off x="486806" y="2158073"/>
            <a:ext cx="1969001" cy="3882362"/>
          </a:xfrm>
          <a:prstGeom prst="rect">
            <a:avLst/>
          </a:prstGeom>
        </p:spPr>
      </p:pic>
      <p:pic>
        <p:nvPicPr>
          <p:cNvPr id="5" name="Image 4" descr="Une image contenant texte, capture d’écran, cercle, roulette&#10;&#10;Le contenu généré par l’IA peut être incorrect.">
            <a:extLst>
              <a:ext uri="{FF2B5EF4-FFF2-40B4-BE49-F238E27FC236}">
                <a16:creationId xmlns:a16="http://schemas.microsoft.com/office/drawing/2014/main" id="{F446F431-9C02-5E6F-5599-C75CCC5A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28" r="14019" b="1"/>
          <a:stretch>
            <a:fillRect/>
          </a:stretch>
        </p:blipFill>
        <p:spPr>
          <a:xfrm>
            <a:off x="2602767" y="2159331"/>
            <a:ext cx="1969002" cy="388236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414" y="1671492"/>
            <a:ext cx="3761637" cy="3880773"/>
          </a:xfrm>
        </p:spPr>
        <p:txBody>
          <a:bodyPr>
            <a:normAutofit/>
          </a:bodyPr>
          <a:lstStyle/>
          <a:p>
            <a:r>
              <a:rPr lang="fr-FR" dirty="0"/>
              <a:t>Roulette européenne (0 à 36)</a:t>
            </a:r>
          </a:p>
          <a:p>
            <a:pPr lvl="1"/>
            <a:r>
              <a:rPr lang="fr-FR" dirty="0" err="1"/>
              <a:t>Seed</a:t>
            </a:r>
            <a:r>
              <a:rPr lang="fr-FR" dirty="0"/>
              <a:t> basé sur la clé cryptographique</a:t>
            </a:r>
          </a:p>
          <a:p>
            <a:pPr lvl="1"/>
            <a:r>
              <a:rPr lang="fr-FR" dirty="0"/>
              <a:t>Animation graphique (</a:t>
            </a:r>
            <a:r>
              <a:rPr lang="fr-FR" dirty="0" err="1"/>
              <a:t>Tkinter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Historique des tirages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15D9D-3306-24F4-FA36-7BBE6159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4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695254"/>
            <a:ext cx="644750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Ce projet démontre qu’il est possible de 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capter de l’entropie depuis le monde réel,</a:t>
            </a:r>
          </a:p>
          <a:p>
            <a:r>
              <a:rPr lang="fr-FR" dirty="0"/>
              <a:t>l’amplifier par chaînage de sources,</a:t>
            </a:r>
          </a:p>
          <a:p>
            <a:r>
              <a:rPr lang="fr-FR" dirty="0"/>
              <a:t>produire une clé cryptographique robuste,</a:t>
            </a:r>
          </a:p>
          <a:p>
            <a:r>
              <a:rPr lang="fr-FR" dirty="0"/>
              <a:t>et l’exploiter concrètement dans des systèmes aléatoires.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🎯 Un générateur d’entropie vivant, original et ancré dans la réalité.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8A1714-5505-9E0F-1B09-CDBDD179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489</Words>
  <Application>Microsoft Office PowerPoint</Application>
  <PresentationFormat>Affichage à l'écran (4:3)</PresentationFormat>
  <Paragraphs>77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Facette</vt:lpstr>
      <vt:lpstr>Générateur d’Entropie Hybride Basé sur le Monde Réel</vt:lpstr>
      <vt:lpstr>Objectif du projet</vt:lpstr>
      <vt:lpstr>Sources d’entropie utilisées</vt:lpstr>
      <vt:lpstr>Caméra urbaine &amp; détection humaine</vt:lpstr>
      <vt:lpstr>Données météorologiques</vt:lpstr>
      <vt:lpstr>Flux de streaming Live</vt:lpstr>
      <vt:lpstr>Trafic Aérien Global (OpenSky)</vt:lpstr>
      <vt:lpstr>Génération de la clé 256 bits</vt:lpstr>
      <vt:lpstr>Nuage de points pseudo-aléatoire</vt:lpstr>
      <vt:lpstr>Roulette de casino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 B</cp:lastModifiedBy>
  <cp:revision>3</cp:revision>
  <dcterms:created xsi:type="dcterms:W3CDTF">2013-01-27T09:14:16Z</dcterms:created>
  <dcterms:modified xsi:type="dcterms:W3CDTF">2026-01-21T11:45:04Z</dcterms:modified>
  <cp:category/>
</cp:coreProperties>
</file>